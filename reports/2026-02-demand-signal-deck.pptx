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98480" y="0"/>
            <a:ext cx="1493215" cy="914400"/>
          </a:xfrm>
          <a:prstGeom prst="rect">
            <a:avLst/>
          </a:prstGeom>
          <a:solidFill>
            <a:srgbClr val="2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188720" cy="914400"/>
          </a:xfrm>
          <a:prstGeom prst="rect">
            <a:avLst/>
          </a:prstGeom>
          <a:solidFill>
            <a:srgbClr val="2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3108960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C8943E"/>
                </a:solidFill>
                <a:latin typeface="Palatino Linotype"/>
              </a:rPr>
              <a:t>What Visitors Told Our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F5F0E8"/>
                </a:solidFill>
                <a:latin typeface="Palatino Linotype"/>
              </a:rPr>
              <a:t>Before They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39312"/>
            <a:ext cx="7772400" cy="36576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673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080"/>
                </a:solidFill>
                <a:latin typeface="Calibri"/>
              </a:rPr>
              <a:t>Soft Launch Intelligence Report  ·  February 16–18,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9080"/>
                </a:solidFill>
                <a:latin typeface="Calibri"/>
              </a:rPr>
              <a:t>Nevada County Arts Council — Experience Planning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A1612"/>
                </a:solidFill>
                <a:latin typeface="Palatino Linotype"/>
              </a:rPr>
              <a:t>5 Visitors. 73 Signals. 2 Conversions.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064240" cy="45720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5212080" cy="1965960"/>
          </a:xfrm>
          <a:prstGeom prst="rect">
            <a:avLst/>
          </a:prstGeom>
          <a:solidFill>
            <a:srgbClr val="ECE8DF"/>
          </a:solidFill>
          <a:ln w="10160">
            <a:solidFill>
              <a:srgbClr val="C89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212080" cy="91440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8943E"/>
                </a:solidFill>
                <a:latin typeface="Palatino Linotype"/>
              </a:rPr>
              <a:t>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612"/>
                </a:solidFill>
                <a:latin typeface="Calibri"/>
              </a:rPr>
              <a:t>ENGAGEMENT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E4E"/>
                </a:solidFill>
                <a:latin typeface="Calibri"/>
              </a:rPr>
              <a:t>14.6 per visitor — they explored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70432"/>
            <a:ext cx="5212080" cy="1965960"/>
          </a:xfrm>
          <a:prstGeom prst="rect">
            <a:avLst/>
          </a:prstGeom>
          <a:solidFill>
            <a:srgbClr val="ECE8DF"/>
          </a:solidFill>
          <a:ln w="10160">
            <a:solidFill>
              <a:srgbClr val="C89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70432"/>
            <a:ext cx="5212080" cy="91440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6187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8943E"/>
                </a:solidFill>
                <a:latin typeface="Palatino Linotype"/>
              </a:rPr>
              <a:t>9.1%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612"/>
                </a:solidFill>
                <a:latin typeface="Calibri"/>
              </a:rPr>
              <a:t>BOUNCE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420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E4E"/>
                </a:solidFill>
                <a:latin typeface="Calibri"/>
              </a:rPr>
              <a:t>91% stayed and used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47872"/>
            <a:ext cx="5212080" cy="1965960"/>
          </a:xfrm>
          <a:prstGeom prst="rect">
            <a:avLst/>
          </a:prstGeom>
          <a:solidFill>
            <a:srgbClr val="ECE8DF"/>
          </a:solidFill>
          <a:ln w="10160">
            <a:solidFill>
              <a:srgbClr val="C89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547872"/>
            <a:ext cx="5212080" cy="91440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8943E"/>
                </a:solidFill>
                <a:latin typeface="Palatino Linotyp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3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612"/>
                </a:solidFill>
                <a:latin typeface="Calibri"/>
              </a:rPr>
              <a:t>DIRECT TICKET REFERRALS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1947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E4E"/>
                </a:solidFill>
                <a:latin typeface="Calibri"/>
              </a:rPr>
              <a:t>Spring Street Swing Out — confirmed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47872"/>
            <a:ext cx="5212080" cy="1965960"/>
          </a:xfrm>
          <a:prstGeom prst="rect">
            <a:avLst/>
          </a:prstGeom>
          <a:solidFill>
            <a:srgbClr val="ECE8DF"/>
          </a:solidFill>
          <a:ln w="10160">
            <a:solidFill>
              <a:srgbClr val="C89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547872"/>
            <a:ext cx="5212080" cy="91440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63931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8943E"/>
                </a:solidFill>
                <a:latin typeface="Palatino Linotype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53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612"/>
                </a:solidFill>
                <a:latin typeface="Calibri"/>
              </a:rPr>
              <a:t>VENUES SURFACED BY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1947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E4E"/>
                </a:solidFill>
                <a:latin typeface="Calibri"/>
              </a:rPr>
              <a:t>From just 2 dining queries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42432"/>
            <a:ext cx="11064240" cy="749808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247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8943E"/>
                </a:solidFill>
                <a:latin typeface="Calibri"/>
              </a:rPr>
              <a:t>“The number of visitors is small. The quality of what we learned is not.”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A1612"/>
                </a:solidFill>
                <a:latin typeface="Palatino Linotype"/>
              </a:rPr>
              <a:t>One Session. Five Discoveries.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32104"/>
            <a:ext cx="11064240" cy="45720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728216" cy="2606040"/>
          </a:xfrm>
          <a:prstGeom prst="rect">
            <a:avLst/>
          </a:prstGeom>
          <a:solidFill>
            <a:srgbClr val="ECE8DF"/>
          </a:solidFill>
          <a:ln w="8890">
            <a:solidFill>
              <a:srgbClr val="C89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124712"/>
            <a:ext cx="347472" cy="347472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61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1563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2"/>
                </a:solidFill>
                <a:latin typeface="Calibri"/>
              </a:rPr>
              <a:t>Trails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57400"/>
            <a:ext cx="15636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E4E"/>
                </a:solidFill>
                <a:latin typeface="Calibri"/>
              </a:rPr>
              <a:t>Arrives for hiking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3704" y="1920239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8943E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6856" y="1051560"/>
            <a:ext cx="1728216" cy="2606040"/>
          </a:xfrm>
          <a:prstGeom prst="rect">
            <a:avLst/>
          </a:prstGeom>
          <a:solidFill>
            <a:srgbClr val="ECE8DF"/>
          </a:solidFill>
          <a:ln w="8890">
            <a:solidFill>
              <a:srgbClr val="C89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0008" y="1124712"/>
            <a:ext cx="347472" cy="347472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612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554480"/>
            <a:ext cx="1563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2"/>
                </a:solidFill>
                <a:latin typeface="Calibri"/>
              </a:rPr>
              <a:t>Galleries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6584" y="2057400"/>
            <a:ext cx="15636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E4E"/>
                </a:solidFill>
                <a:latin typeface="Calibri"/>
              </a:rPr>
              <a:t>Discovers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920239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8943E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96512" y="1051560"/>
            <a:ext cx="1728216" cy="26060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9664" y="1124712"/>
            <a:ext cx="347472" cy="347472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9664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612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554480"/>
            <a:ext cx="1563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8"/>
                </a:solidFill>
                <a:latin typeface="Calibri"/>
              </a:rPr>
              <a:t>Chatbot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057400"/>
            <a:ext cx="15636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943E"/>
                </a:solidFill>
                <a:latin typeface="Calibri"/>
              </a:rPr>
              <a:t>“What else is good?”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1920239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8943E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16168" y="1051560"/>
            <a:ext cx="1728216" cy="2606040"/>
          </a:xfrm>
          <a:prstGeom prst="rect">
            <a:avLst/>
          </a:prstGeom>
          <a:solidFill>
            <a:srgbClr val="ECE8DF"/>
          </a:solidFill>
          <a:ln w="8890">
            <a:solidFill>
              <a:srgbClr val="C89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1124712"/>
            <a:ext cx="347472" cy="347472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612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6" y="1554480"/>
            <a:ext cx="1563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2"/>
                </a:solidFill>
                <a:latin typeface="Calibri"/>
              </a:rPr>
              <a:t>AI: LeeAnn Brook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896" y="2057400"/>
            <a:ext cx="15636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E4E"/>
                </a:solidFill>
                <a:latin typeface="Calibri"/>
              </a:rPr>
              <a:t>Platform cross-sells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1920239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8943E"/>
                </a:solidFill>
                <a:latin typeface="Calibri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35824" y="1051560"/>
            <a:ext cx="1728216" cy="2606040"/>
          </a:xfrm>
          <a:prstGeom prst="rect">
            <a:avLst/>
          </a:prstGeom>
          <a:solidFill>
            <a:srgbClr val="ECE8DF"/>
          </a:solidFill>
          <a:ln w="8890">
            <a:solidFill>
              <a:srgbClr val="C89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08976" y="1124712"/>
            <a:ext cx="347472" cy="347472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08976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612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1554480"/>
            <a:ext cx="1563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2"/>
                </a:solidFill>
                <a:latin typeface="Calibri"/>
              </a:rPr>
              <a:t>Detail Panel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057400"/>
            <a:ext cx="15636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E4E"/>
                </a:solidFill>
                <a:latin typeface="Calibri"/>
              </a:rPr>
              <a:t>Maps link clicked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2328" y="1920239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8943E"/>
                </a:solidFill>
                <a:latin typeface="Calibri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1051560"/>
            <a:ext cx="1728216" cy="26060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28632" y="1124712"/>
            <a:ext cx="347472" cy="347472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28632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612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5207" y="1554480"/>
            <a:ext cx="1563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8"/>
                </a:solidFill>
                <a:latin typeface="Calibri"/>
              </a:rPr>
              <a:t>Itineraries Page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7" y="2057400"/>
            <a:ext cx="15636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943E"/>
                </a:solidFill>
                <a:latin typeface="Calibri"/>
              </a:rPr>
              <a:t>Full trip forming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31920"/>
            <a:ext cx="11064240" cy="8686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005072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F0E8"/>
                </a:solidFill>
                <a:latin typeface="Calibri"/>
              </a:rPr>
              <a:t>“This visitor arrived for hiking and left with a gallery to visit and a full itinerary. The platform did that. Automatically.”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>
                <a:solidFill>
                  <a:srgbClr val="1A1612"/>
                </a:solidFill>
                <a:latin typeface="Palatino Linotype"/>
              </a:rPr>
              <a:t>At 500 Visitors Per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0392"/>
            <a:ext cx="11064240" cy="45720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12064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8"/>
                </a:solidFill>
                <a:latin typeface="Calibri"/>
              </a:rPr>
              <a:t>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15214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09080"/>
                </a:solidFill>
                <a:latin typeface="Calibri"/>
              </a:rPr>
              <a:t>FEB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1521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943E"/>
                </a:solidFill>
                <a:latin typeface="Calibri"/>
              </a:rPr>
              <a:t>AT 500 VISITORS /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63624"/>
            <a:ext cx="11064240" cy="758952"/>
          </a:xfrm>
          <a:prstGeom prst="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465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12"/>
                </a:solidFill>
                <a:latin typeface="Calibri"/>
              </a:rPr>
              <a:t>Chatbot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5506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A7A6A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002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943E"/>
                </a:solidFill>
                <a:latin typeface="Palatino Linotype"/>
              </a:rPr>
              <a:t>~500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64240" cy="758952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50545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12"/>
                </a:solidFill>
                <a:latin typeface="Calibri"/>
              </a:rPr>
              <a:t>AI venue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41401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A7A6A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5915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943E"/>
                </a:solidFill>
                <a:latin typeface="Palatino Linotype"/>
              </a:rPr>
              <a:t>~1,400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11064240" cy="758952"/>
          </a:xfrm>
          <a:prstGeom prst="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644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12"/>
                </a:solidFill>
                <a:latin typeface="Calibri"/>
              </a:rPr>
              <a:t>Direct business referrals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17296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A7A6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18104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943E"/>
                </a:solidFill>
                <a:latin typeface="Palatino Linotype"/>
              </a:rPr>
              <a:t>~200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11064240" cy="758952"/>
          </a:xfrm>
          <a:prstGeom prst="rect">
            <a:avLst/>
          </a:prstGeom>
          <a:solidFill>
            <a:srgbClr val="E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0233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12"/>
                </a:solidFill>
                <a:latin typeface="Calibri"/>
              </a:rPr>
              <a:t>Engagement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93191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A7A6A"/>
                </a:solidFill>
                <a:latin typeface="Calibri"/>
              </a:rPr>
              <a:t>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877055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943E"/>
                </a:solidFill>
                <a:latin typeface="Palatino Linotype"/>
              </a:rPr>
              <a:t>~7,300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7A6A"/>
                </a:solidFill>
                <a:latin typeface="Calibri"/>
              </a:rPr>
              <a:t>Projection based on February engagement ratios. Not a forecast — a demonstration of what the pipeline produces at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0"/>
            <a:ext cx="1584655" cy="822960"/>
          </a:xfrm>
          <a:prstGeom prst="rect">
            <a:avLst/>
          </a:prstGeom>
          <a:solidFill>
            <a:srgbClr val="2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C8943E"/>
                </a:solidFill>
                <a:latin typeface="Palatino Linotype"/>
              </a:rPr>
              <a:t>No Other Small-Town DMO Does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50392"/>
            <a:ext cx="11064240" cy="45720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611880" cy="3703320"/>
          </a:xfrm>
          <a:prstGeom prst="rect">
            <a:avLst/>
          </a:prstGeom>
          <a:solidFill>
            <a:srgbClr val="2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611880" cy="64008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52144"/>
            <a:ext cx="32826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43E"/>
                </a:solidFill>
                <a:latin typeface="Calibri"/>
              </a:rPr>
              <a:t>What We Know 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901952"/>
            <a:ext cx="54864" cy="54864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92224"/>
            <a:ext cx="3136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  <a:latin typeface="Calibri"/>
              </a:rPr>
              <a:t>Which venues are getting referrals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743200"/>
            <a:ext cx="54864" cy="54864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33472"/>
            <a:ext cx="3136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  <a:latin typeface="Calibri"/>
              </a:rPr>
              <a:t>What visitors are searching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584448"/>
            <a:ext cx="54864" cy="54864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474720"/>
            <a:ext cx="3136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  <a:latin typeface="Calibri"/>
              </a:rPr>
              <a:t>Intent clusters: dining, lodging, same-day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051560"/>
            <a:ext cx="3611880" cy="3703320"/>
          </a:xfrm>
          <a:prstGeom prst="rect">
            <a:avLst/>
          </a:prstGeom>
          <a:solidFill>
            <a:srgbClr val="2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051560"/>
            <a:ext cx="3611880" cy="64008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152144"/>
            <a:ext cx="32826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43E"/>
                </a:solidFill>
                <a:latin typeface="Calibri"/>
              </a:rPr>
              <a:t>What We'll Know at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901952"/>
            <a:ext cx="54864" cy="54864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1792224"/>
            <a:ext cx="3136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  <a:latin typeface="Calibri"/>
              </a:rPr>
              <a:t>Seasonality patterns by category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2743200"/>
            <a:ext cx="54864" cy="54864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2633472"/>
            <a:ext cx="3136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  <a:latin typeface="Calibri"/>
              </a:rPr>
              <a:t>Which messages drive conversions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584448"/>
            <a:ext cx="54864" cy="54864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3474720"/>
            <a:ext cx="3136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  <a:latin typeface="Calibri"/>
              </a:rPr>
              <a:t>Venues underperforming their potential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1051560"/>
            <a:ext cx="3611880" cy="3703320"/>
          </a:xfrm>
          <a:prstGeom prst="rect">
            <a:avLst/>
          </a:prstGeom>
          <a:solidFill>
            <a:srgbClr val="2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3296" y="1051560"/>
            <a:ext cx="3611880" cy="64008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152144"/>
            <a:ext cx="32826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43E"/>
                </a:solidFill>
                <a:latin typeface="Calibri"/>
              </a:rPr>
              <a:t>How It Works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47888" y="1901952"/>
            <a:ext cx="54864" cy="54864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1792224"/>
            <a:ext cx="3136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  <a:latin typeface="Calibri"/>
              </a:rPr>
              <a:t>Monthly report · automated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2743200"/>
            <a:ext cx="54864" cy="54864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2633472"/>
            <a:ext cx="3136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  <a:latin typeface="Calibri"/>
              </a:rPr>
              <a:t>Privacy-first · no cookies · no PII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3584448"/>
            <a:ext cx="54864" cy="54864"/>
          </a:xfrm>
          <a:prstGeom prst="rect">
            <a:avLst/>
          </a:prstGeom>
          <a:solidFill>
            <a:srgbClr val="C89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3474720"/>
            <a:ext cx="31363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  <a:latin typeface="Calibri"/>
              </a:rPr>
              <a:t>Zero staff overhead · runs on the 1st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solidFill>
            <a:srgbClr val="12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056632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8943E"/>
                </a:solidFill>
                <a:latin typeface="Calibri"/>
              </a:rPr>
              <a:t>“This is the intelligence infrastructure. We built it during soft launch so it’s ready when visitors arrive.”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